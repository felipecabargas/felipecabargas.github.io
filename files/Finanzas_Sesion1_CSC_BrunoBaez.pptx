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73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presentándome y explicando el marco: esta es una actividad de vinculación con el medio del curso Finanzas II de IACC. Objetivo de hoy: que Bruno entienda con qué plata puede crecer su empresa y qué instrumentos concretos existen para él. Pedir permiso para grabar la sesión (es respaldo de la evaluación). Aclarar que las cifras de fondos son referenciales y hay que confirmarlas en la fuente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agenda en 1 minuto. Enfatizar que el bloque 4 es el más práctico y que de ahí sale la guía que le voy a dejar por escrito. Preguntarle a Bruno si hay algo específico que quiera resolver hoy, para amarrarlo al bloque que corresponda.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Validar la ficha con Bruno en voz alta — si algo está mal, corregirlo ahí mismo (esto además sirve como registro de la entrevista inicial). Preguntas clave a hacer aquí: ¿cuánto vendiste el último mes? ¿qué inversión tienes pendiente (cámara de cultivo, riego, sustrato, cámara de frío)? ¿tienes crédito hoy? Anotar las respuestas: se usan en la lámina del WACC aplicado.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Insistir en la idea fuerza: bonos, créditos, subsidios y socios son todos variantes de deuda o patrimonio. Si entiende esa dicotomía, entiende el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un ejemplo concreto de su realidad: comprar una cámara de frío con crédito (deuda) versus comprarla reinvirtiendo utilidades (patrimonio). Punto clave del contenido de la semana: la deuda tiene escudo tributario porque los intereses son gasto deducible — Modigliani y Miller con impuestos. Y el remate: el subsidio no calza en ninguna de las dos cajas, por eso siempre se persigue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tabla rápido — es contexto, no el corazón de la sesión. Detenerse solo en renta fija vs renta variable, que es la distinción que se usa después en WACC (Kd vs 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profundizar más de 3 minutos. La analogía útil: un bono es lo mismo que su crédito, pero en vez de un banco son mil personas prestándole un pedacito cada una. Los bonos rescatables son el equivalente a prepagar un crédito cuando bajan las tasas.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a su escala: si un familiar le pone $5 millones a cambio del 30% del negocio, eso es una acción. Preguntarle si ya le han ofrecido algo así — es más común de lo que parece en emprendimientos agrícolas familiares.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bisagra de la sesión. Bajar la teoría a su realidad. Dejar que Bruno reconozca cuáles de estas ya está usando hoy sin saber cómo se llaman.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Advertir que viene la parte con fórmulas, pero que el objetivo no es que memorice nada: es que entienda qué pregunta responde cada fórmula.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del ejemplo salen tal cual del contenido de la semana 2. Si Bruno se pierde con el cálculo, saltar a la caja azul: esa regla es lo único que necesita retener.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puede conectar con por qué vale la pena el esfuerzo administrativo: cada cosa que reduce la incertidumbre sobre el negocio reduce k y sube el valor. Es el argumento para llevar registros ordenados.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Bruno la que importa es Pecking Order: describe exactamente lo que hace un emprendedor por instinto. Validarle que ese instinto está bien fundamentado y que la teoría financiera lo respalda.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Bruno debería identificar en qué escalón está. Aprovechar de anotar qué inversión concreta tiene pendiente y a qué escalón corresponde financiarla.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en una frase: el WACC es el peaje que hay que pagar por usar plata ajena y propia. Si el proyecto no supera el peaje, no hay negocio. Chequear que Bruno entienda la ponderación antes de pasar a su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CAPM es de mercados bursátiles, así que para una microempresa se usa como criterio, no como cálculo exacto: no hay beta publicado para el cultivo de hongos. Lo aplicable es el razonamiento — más riesgo, más rentabilidad exigida.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Reemplazar en vivo los supuestos por las cifras reales de Bruno si las tiene a mano — el ejercicio vale mucho más así. El remate es el argumento central de todo el bloque siguiente: el subsidio baja el costo de capital porque reemplaza plata cara por plata que no se devuelve. Ojo: 12,5% es la tasa Pro Pyme vigente 2025-2027; confirmar con su contador el régimen que tiene asignado.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más importante para Bruno. Advertir de entrada: montos y fechas son referenciales al 30 de agosto de 2026 y hay que confirmarlos en la fuente oficial antes de postular. Nada de esto reemplaza llamar al organismo.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como el mapa completo antes de bajar al detalle. La idea que debe quedar: hay seis puertas distintas y la mayoría de los emprendedores solo golpea la del banco, que rara vez es la mejor primera opción.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que Bruno se tiene que llevar. Si solo recuerda una cosa de toda la sesión, que sea la número 1: acreditarse en INDAP. Ojo con el dato clave que suele desanimar a la gente: se cree que una EIRL no puede ser usuaria de INDAP, y sí puede — el filtro se aplica sobre la persona natural que la constituye. Verificar con él si tiene el predio a su nombre o arrendado, porque eso afecta la acreditación.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leer la tabla entera en voz alta. Señalar que la va a recibir por escrito con los links oficiales, y detenerse solo en PDI y Prodesal, que son los que siguen naturalmente a la acreditación INDAP.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importante de manejo de expectativas: la línea Emprende de Sercotec, que es la más famosa, se le cerró justamente por haberse formalizado. No es un error haberse formalizado — le abrió la línea Crece y el sistema INDAP completo, que son mejores.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tres columnas son exactamente las tres decisiones financieras del contenido: inversión, financiamiento y dividendos. En una EIRL los dividendos son los retiros del titular — hacer explícita esa traducción. Este es el contenido central de la guía escrita que le voy a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acordando fecha de seguimiento. Confirmar con Bruno cuáles de estos pasos se compromete a hacer y anotarlo — eso es lo que hace que la vinculación con el medio sirva de verdad y no quede en una charla.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preguntando qué se lleva Bruno de la sesión — su respuesta es el mejor indicador de si la orientación sirvió. Entregar la guía escrita y agendar el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referencias. No se proyecta durante la sesión: queda en el archivo como respaldo para citar las fuentes en el informe de la tarea (norma APA).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referencias. No se proyecta durante la sesión: queda en el archivo como respaldo para citar las fuentes en el informe de la tarea (norma APA).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referencias. No se proyecta durante la sesión: queda en el archivo como respaldo para citar las fuentes en el informe de la tarea (norma APA).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referencias. No se proyecta durante la sesión: queda en el archivo como respaldo para citar las fuentes en el informe de la tarea (norma APA).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371600"/>
            <a:ext cx="6035040" cy="6035040"/>
          </a:xfrm>
          <a:prstGeom prst="ellipse">
            <a:avLst/>
          </a:prstGeom>
          <a:solidFill>
            <a:srgbClr val="1A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2834640"/>
            <a:ext cx="3840480" cy="3840480"/>
          </a:xfrm>
          <a:prstGeom prst="ellipse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58368" y="2212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VINCULACIÓN CON EL MEDIO  ·  30 DE AGOSTO DE 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578608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Finanzas para hacer</a:t>
            </a:r>
            <a:endParaRPr lang="en-US" sz="43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crecer tu empresa</a:t>
            </a:r>
            <a:endParaRPr lang="en-US" sz="43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31596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financieros, estructura de capital y de dónde sacar</a:t>
            </a:r>
            <a:endParaRPr lang="en-US" sz="14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financiamiento real en Chile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5230368"/>
            <a:ext cx="5120640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58368" y="5394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 estratégico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56327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Bruno Báez Cultivo de Hongos E.I.R.L.  ·  RUT 77.325.405-2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Cultivo de hongos en invernadero  ·  Hijuelas, Región de Valparaíso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vamos a ver hoy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737360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87552" y="2002536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8755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627632" y="1911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empresa hoy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4956048" y="19568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estás parado: giro, etapa y qué necesitas financiar.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2807208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7552" y="3072384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87552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627632" y="29809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financia una empresa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4956048" y="30266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y patrimonio. Qué son bonos y acciones, y qué de eso te sirve a ti.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3877056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87552" y="4142232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87552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627632" y="40507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Cuánto cuesta la plata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956048" y="40965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y CAPM explicados simple, y el cálculo aplicado a tu negocio.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8368" y="4946904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87552" y="5212080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87552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627632" y="5120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dónde sacarla en Chile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956048" y="51663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Fondos, subsidios, créditos y beneficios tributarios a los que puedes postular.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empresa hoy: el punto de partida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64208"/>
            <a:ext cx="5212080" cy="2788920"/>
          </a:xfrm>
          <a:prstGeom prst="roundRect">
            <a:avLst>
              <a:gd name="adj" fmla="val 1967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24128" y="1901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2231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Razón social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487168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Bruno Báez Cultivo de Hongos E.I.R.L.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26609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487168" y="2660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77.325.405-2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3090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487168" y="30906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Cultivo de hongos en invernadero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" y="3520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487168" y="3520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Hermosa, Hijuelas — Quillota, Valparaíso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" y="39502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jurídica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487168" y="39502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E.I.R.L. (empresa individual)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90488" y="1664208"/>
            <a:ext cx="5342839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510528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Año 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510528" y="21031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ejercicio tributario. Sin historial de ventas completo — eso abre algunas puertas y cierra otras.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2660904"/>
            <a:ext cx="5342839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510528" y="2788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Microempresa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510528" y="30998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2.400 UF de ventas: calificas al tramo micro de FOGAPE y a los fondos de menor escala.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90488" y="3657600"/>
            <a:ext cx="5342839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510528" y="3785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Agrícola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510528" y="4096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giro agrícola te da acceso a un sistema paralelo de fomento: INDAP, CNR, FIA.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58368" y="4681728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069848" y="4882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que ordena toda la sesión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069848" y="5193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¿Cuánta plata necesitas, para qué exactamente, y cuál es la forma más barata y menos riesgosa de conseguirla?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2103120"/>
            <a:ext cx="658368" cy="6583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58368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618488" y="2130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618488" y="2450592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qué plata crece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empresa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618488" y="38587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existen dos fuentes de dinero: la que te prestan y la que es tuya.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instrumento financiero es una variante de esas dos.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CAPITAL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 y patrimonio: las dos únicas fuentes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27632"/>
            <a:ext cx="5230368" cy="3986784"/>
          </a:xfrm>
          <a:prstGeom prst="roundRect">
            <a:avLst>
              <a:gd name="adj" fmla="val 1376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2416" y="1883664"/>
            <a:ext cx="457200" cy="45720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4241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627632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25237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te presta y le devuelves con intereses. No entra a mandar en tu empresa.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42416" y="3163824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bancario, crédito INDAP, leasing, proveedores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empresas grandes: emisión de bonos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intereses son gasto: bajan el impuesto que pagas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 que pagarla venda bien o venda mal: ese es el riesgo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90488" y="1627632"/>
            <a:ext cx="5376672" cy="3986784"/>
          </a:xfrm>
          <a:prstGeom prst="roundRect">
            <a:avLst>
              <a:gd name="adj" fmla="val 1376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74536" y="1883664"/>
            <a:ext cx="457200" cy="457200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57453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159752" y="1947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PATRIMONIO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574536" y="25237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 propia o de un socio. No se devuelve, pero se reparte para siempre.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574536" y="3163824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aporte inicial y las utilidades que reinviertes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empresas grandes: emisión de acciones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tiene cuota mensual: no te ahoga la caja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la plata más cara, porque quien la pone exige más retorno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577900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E5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subsidio del Estado es el caso raro y por eso es tan valioso: no lo devuelves y no entrega propiedad de tu empresa.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mapa de los instrumentos financieros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instrumento financiero es un contrato que conecta a quien tiene plata de sobra con quien la necesita. Se clasifican por cómo generan rentabilidad.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84832"/>
            <a:ext cx="10874959" cy="420624"/>
          </a:xfrm>
          <a:prstGeom prst="rect">
            <a:avLst/>
          </a:prstGeom>
          <a:solidFill>
            <a:srgbClr val="0F2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32688" y="22037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081528" y="220370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 PRINCIPAL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16368" y="2203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122408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8368" y="2505456"/>
            <a:ext cx="10874959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32688" y="2688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fija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081528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 estables y definidos de antemano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516368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Bonos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12240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" y="3108960"/>
            <a:ext cx="1087495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32688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variable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081528" y="3300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rentabilidad depende del desempeño del mercado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516368" y="3300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122408" y="3300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" y="3712464"/>
            <a:ext cx="10874959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32688" y="3895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Derivados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3081528" y="3904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valor depende de otro activo financiero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516368" y="3904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y futuros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122408" y="3904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Muy alto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" y="4315968"/>
            <a:ext cx="1087495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932688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Híbridos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081528" y="4507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Combinan características de deuda y patrimonio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51636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Bonos convertibles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122408" y="4507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8368" y="5010912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024128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ti, hoy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24128" y="5468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empresa no va a emitir bonos ni acciones. Pero cuando pides un crédito estás del otro lado de un instrumento de renta fija, y el banco te evalúa exactamente con la misma lógica de riesgo.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FIJA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Bonos: pedirle prestado al mercado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bono es un préstamo dividido en pedazos. La empresa recibe la plata hoy, paga intereses periódicos (cupones) y devuelve el capital al vencimiento.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84832"/>
            <a:ext cx="2615184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nominal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596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devuelve al final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2084832"/>
            <a:ext cx="2615184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666744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Cupón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66744" y="2596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interés que se paga cada período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63056" y="2084832"/>
            <a:ext cx="2615184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419088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Vencimiento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596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fecha del pago final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15400" y="2084832"/>
            <a:ext cx="2615184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171432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71432" y="2596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rentabilidad real que obtiene quien lo compra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456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tipos que conviene distinguir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58368" y="3877056"/>
            <a:ext cx="5376672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32688" y="4142232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3268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499616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Corporativos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1499616" y="43342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emite una empresa privada. Más riesgo que los del Estado, por eso pagan más.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90488" y="3877056"/>
            <a:ext cx="5376672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64808" y="4142232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46480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031736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Soberanos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031736" y="43342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emite un gobierno. Se consideran los más seguros del mercado.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58368" y="4937760"/>
            <a:ext cx="5376672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32688" y="5202936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932688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1499616" y="5093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Convertibles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1499616" y="5394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Empiezan como deuda y pueden transformarse en acciones. Instrumento híbrido.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90488" y="4937760"/>
            <a:ext cx="5376672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464808" y="5202936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464808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7031736" y="5093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Rescatables</a:t>
            </a:r>
            <a:endParaRPr lang="en-US" sz="1450" dirty="0"/>
          </a:p>
        </p:txBody>
      </p:sp>
      <p:sp>
        <p:nvSpPr>
          <p:cNvPr id="40" name="Text 37"/>
          <p:cNvSpPr txBox="1"/>
          <p:nvPr/>
        </p:nvSpPr>
        <p:spPr>
          <a:xfrm>
            <a:off x="7031736" y="5394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empresa puede recomprarlos antes. Le conviene a ella si bajan las tasas.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VARIABLE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Acciones: vender un pedazo de la empresa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bono el inversionista es prestamista. En una acción es propietario: gana si a la empresa le va bien y pierde si le va mal.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66544"/>
            <a:ext cx="10874959" cy="457200"/>
          </a:xfrm>
          <a:prstGeom prst="rect">
            <a:avLst/>
          </a:prstGeom>
          <a:solidFill>
            <a:srgbClr val="0F2B4C"/>
          </a:solidFill>
          <a:ln w="635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32688" y="2203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2203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ORDINARIAS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065008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PREFERENTES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" y="2523744"/>
            <a:ext cx="108749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32688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 a voto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315968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Generalmente no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90672"/>
            <a:ext cx="1087495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32688" y="3264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315968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y sin prioridad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 en el pago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8368" y="3657600"/>
            <a:ext cx="108749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32688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31596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065008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relativo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58368" y="4224528"/>
            <a:ext cx="1087495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32688" y="4398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 potencial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315968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crecimiento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065008" y="4398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estable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58368" y="4937760"/>
            <a:ext cx="10874959" cy="1188720"/>
          </a:xfrm>
          <a:prstGeom prst="roundRect">
            <a:avLst>
              <a:gd name="adj" fmla="val 4615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024128" y="5138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escondido del socio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24128" y="54132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 un socio se siente gratis porque no hay cuota mensual. No lo es: le entregas una parte de todas las utilidades futuras, para siempre, y parte del control. Por eso en finanzas el patrimonio es la fuente más cara.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mismo, traducido a tu escala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700784"/>
            <a:ext cx="10874959" cy="438912"/>
          </a:xfrm>
          <a:prstGeom prst="rect">
            <a:avLst/>
          </a:prstGeom>
          <a:solidFill>
            <a:srgbClr val="0F2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32688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MUNDO CORPORATIVO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453128" y="18288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EMPRESA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0533888" y="1828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NATURALEZA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32688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Emitir un bono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23134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un crédito a BancoEstado, a INDAP o financiar sustrato con el proveedor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533888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2889504"/>
            <a:ext cx="1087495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32688" y="3127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Emitir acciones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453128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un familiar o un tercero aporte capital a cambio de parte del negocio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533888" y="3127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" y="3639312"/>
            <a:ext cx="10874959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32688" y="3877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Utilidades retenidas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453128" y="38130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retirar toda la plata a fin de mes y reinvertirla en la sala de cultivo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533888" y="3877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Patrimonio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" y="4389120"/>
            <a:ext cx="1087495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32688" y="4626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por riesgo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453128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tasa que te cobra el banco por ser empresa nueva, sin historial y en un rubro agrícola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533888" y="4626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" y="5138928"/>
            <a:ext cx="10874959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32688" y="5376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equivalente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453128" y="53126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Subsidio del Estado: no se devuelve y no entrega propiedad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533888" y="53766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2103120"/>
            <a:ext cx="658368" cy="6583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58368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618488" y="2130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618488" y="2450592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Cuánto vale 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cuánto cuesta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618488" y="38587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decisión financiera se reduce a comparar dos números: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proyecto rinde y lo que cuesta la plata que lo financia.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VALORIZACIÓN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dinero de mañana vale menos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eso todo flujo futuro se descuenta. Es la base de cualquier evaluación de proyecto: mil pesos que recibes en cinco años no son mil pesos.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48256"/>
            <a:ext cx="4892040" cy="3703320"/>
          </a:xfrm>
          <a:prstGeom prst="roundRect">
            <a:avLst>
              <a:gd name="adj" fmla="val 1481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87552" y="226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DEL MATERIAL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5603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bono de $1.000 a 5 años, con cupón de 8%, cuando el mercado exige 10%.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Cupón anual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858768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 × 8% = $80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5661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presente de los cupones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858768" y="35661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$303,26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presente del capital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858768" y="39319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$620,92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del bono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858768" y="42976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$924,18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87552" y="4590288"/>
            <a:ext cx="4343400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87552" y="47365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vende bajo su valor nominal: se transa con descuento, porque paga menos de lo que el mercado exige.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70448" y="2048256"/>
            <a:ext cx="5696712" cy="1691640"/>
          </a:xfrm>
          <a:prstGeom prst="roundRect">
            <a:avLst>
              <a:gd name="adj" fmla="val 3243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236208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QUE IMPORTA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59689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tasa exigida sube, el valor baja.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tasa exigida baja, el valor sube.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870448" y="3877056"/>
            <a:ext cx="5696712" cy="1975104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36208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haces tú con esto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236208" y="44074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el banco te ofrece pagar en 12, 24 o 48 meses, no compares la cuota: compara el total descontado.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subsidio que te llega en 8 meses vale menos que el mismo monto hoy. Considéralo al planificar la caja.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te ofrecen pagarte a 90 días, ese descuento tiene un precio: cóbralo en el precio de venta.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VALORIZACIÓN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Cuánto vale una empresa: modelo de Gordon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acción vale lo que valen hoy todos los dividendos que entregará en el futuro. La misma lógica sirve para ponerle precio a tu propia empresa si algún día la vendes o entra un socio.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66544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15568" y="2304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P₀  =  D₁ / ( k − g )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687568" y="2359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D₁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687568" y="2688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 esperado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653528" y="2359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653528" y="2688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 exigida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619488" y="2359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19488" y="2688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esperado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3602736"/>
            <a:ext cx="4892040" cy="2157984"/>
          </a:xfrm>
          <a:prstGeom prst="roundRect">
            <a:avLst>
              <a:gd name="adj" fmla="val 254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87552" y="3803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DEL MATERIAL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 esperado $200, rentabilidad exigida 10%, crecimiento 4%.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4626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/ (0,10 − 0,04)  =  $3.333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" y="50840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en el mercado se vende bajo $3.333 está subvalorada; sobre ese precio, sobrevalorada.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70448" y="3602736"/>
            <a:ext cx="5696712" cy="2157984"/>
          </a:xfrm>
          <a:prstGeom prst="roundRect">
            <a:avLst>
              <a:gd name="adj" fmla="val 254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236208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significa para ti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4114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valor de tu empresa no es lo que invertiste en ella. Es lo que puede generar hacia adelante.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47548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palancas la hacen valer más: aumentar el flujo que genera (g) y bajar el riesgo percibido (k). Formalizarte, llevar contabilidad ordenada y tener contratos de venta estables bajan k — y eso vale plata aunque no se vea en la caja del mes.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CAPITAL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teorías sobre cuánto endeudarse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45920"/>
            <a:ext cx="3511296" cy="3931920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9264" y="1883664"/>
            <a:ext cx="420624" cy="420624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926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69264" y="24323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Modigliani</a:t>
            </a:r>
            <a:endParaRPr lang="en-US" sz="19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Miller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69264" y="3291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mercado perfecto da lo mismo cómo te financies. Pero al incorporar impuestos, la deuda sí aporta valor: los intereses son gasto y bajan el impuesto.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9264" y="4718304"/>
            <a:ext cx="2889504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9264" y="48646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i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deuda tiene un premio tributario real.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61688" y="1645920"/>
            <a:ext cx="3511296" cy="3931920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72584" y="1883664"/>
            <a:ext cx="420624" cy="420624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67258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672584" y="24323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672584" y="3291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un punto óptimo. Más deuda da más ahorro de impuestos, pero también más riesgo de no poder pagar y caer en insolvencia.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72584" y="4718304"/>
            <a:ext cx="2889504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672584" y="48646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i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Endéudate hasta donde tu caja aguante.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65008" y="1645920"/>
            <a:ext cx="3511296" cy="3931920"/>
          </a:xfrm>
          <a:prstGeom prst="roundRect">
            <a:avLst>
              <a:gd name="adj" fmla="val 1563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375904" y="1883664"/>
            <a:ext cx="420624" cy="420624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37590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375904" y="24323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Pecking</a:t>
            </a:r>
            <a:endParaRPr lang="en-US" sz="19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8375904" y="3291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empresas se financian en un orden: primero recursos propios, después deuda, y al final emitiendo acciones o entrando socios.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375904" y="4718304"/>
            <a:ext cx="2889504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375904" y="48646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i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orden natural: primero lo tuyo, después lo prestado.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PECKING ORDER APLICADO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orden de financiamiento, en la práctica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82496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9264" y="1947672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9264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856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84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tuyo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4636008" y="19019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Utilidades reinvertidas y aporte propio. Sin costo financiero, sin cuota y sin ceder control. Es el escalón donde estás hoy.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2715768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69264" y="2980944"/>
            <a:ext cx="402336" cy="402336"/>
          </a:xfrm>
          <a:prstGeom prst="ellipse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69264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2889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1181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se devuelve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4636008" y="29352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Subsidios y fondos concursables del Estado. Técnicamente no es patrimonio ni deuda: es la fuente más barata que existe. Cuesta tiempo, no plata.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8368" y="3749040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69264" y="4014216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69264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3922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TERCERO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151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prestado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396849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bancario o INDAP, idealmente con garantía estatal FOGAPE. Tiene escudo tributario, pero exige caja mensual para pagar.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8368" y="4782312"/>
            <a:ext cx="10874959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69264" y="5047488"/>
            <a:ext cx="402336" cy="402336"/>
          </a:xfrm>
          <a:prstGeom prst="ellipse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69264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554480" y="4956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ÚLTIMO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184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se comparte</a:t>
            </a:r>
            <a:endParaRPr lang="en-US" sz="1550" dirty="0"/>
          </a:p>
        </p:txBody>
      </p:sp>
      <p:sp>
        <p:nvSpPr>
          <p:cNvPr id="30" name="Text 27"/>
          <p:cNvSpPr txBox="1"/>
          <p:nvPr/>
        </p:nvSpPr>
        <p:spPr>
          <a:xfrm>
            <a:off x="4636008" y="500176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de un socio con capital. Se usa cuando el salto es grande y ninguna de las anteriores alcanza. Cede utilidades y control para siempre.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5870448"/>
            <a:ext cx="108749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2E5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única razón para saltarse un escalón es la velocidad: los fondos concursables tienen fechas fijas.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 CAPITAL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WACC: cuánto te cuesta la plata que usas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promedio ponderado de lo que cuestan todas tus fuentes de financiamiento. Marca el piso: cualquier proyecto que rinda menos que el WACC destruye valor.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66544"/>
            <a:ext cx="10874959" cy="1133856"/>
          </a:xfrm>
          <a:prstGeom prst="roundRect">
            <a:avLst>
              <a:gd name="adj" fmla="val 4839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69848" y="237744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WACC  =  [ D / (D+E) ] × Kd × (1 − T)  +  [ E / (D+E) ] × Ke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Deuda    E  Patrimonio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  Costo de la deuda    Ke  Costo del patrimonio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Tasa de impuesto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6126480" cy="2304288"/>
          </a:xfrm>
          <a:prstGeom prst="roundRect">
            <a:avLst>
              <a:gd name="adj" fmla="val 2381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87552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DEL MATERIAL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9502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$40 M · Patrimonio $60 M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01768" y="39502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/ 60%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4361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 8% con impuesto de 27%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01768" y="4361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5,84% neto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4773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exigido al patrimonio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01768" y="4773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184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(0,4 × 5,84%) + (0,6 × 14%)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01768" y="5184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10,74%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104888" y="3456432"/>
            <a:ext cx="4462272" cy="2304288"/>
          </a:xfrm>
          <a:prstGeom prst="roundRect">
            <a:avLst>
              <a:gd name="adj" fmla="val 2381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424928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lee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24928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10,74%</a:t>
            </a:r>
            <a:endParaRPr lang="en-US" sz="4600" dirty="0"/>
          </a:p>
        </p:txBody>
      </p:sp>
      <p:sp>
        <p:nvSpPr>
          <p:cNvPr id="24" name="Text 21"/>
          <p:cNvSpPr txBox="1"/>
          <p:nvPr/>
        </p:nvSpPr>
        <p:spPr>
          <a:xfrm>
            <a:off x="7424928" y="47000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la rentabilidad mínima que esa empresa debe generar para no destruir valor. Bajo eso, está trabajando para pagarle a sus financistas.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DEL PATRIMONIO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CAPM: cuánto exige quien pone el capital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 una sola pregunta: dado el riesgo de este negocio, ¿qué rentabilidad mínima exigiría alguien para poner su plata aquí en vez de dejarla segura en otro lado?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66544"/>
            <a:ext cx="10874959" cy="1133856"/>
          </a:xfrm>
          <a:prstGeom prst="roundRect">
            <a:avLst>
              <a:gd name="adj" fmla="val 4839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69848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  =  Rf  +  β × ( Rm − Rf 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327648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 Tasa libre de riesgo    β  Riesgo del negocio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 Rentabilidad esperada del mercado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(Rm − Rf)  Premio por riesgo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3456432"/>
            <a:ext cx="6126480" cy="2304288"/>
          </a:xfrm>
          <a:prstGeom prst="roundRect">
            <a:avLst>
              <a:gd name="adj" fmla="val 2381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87552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DEL MATERIAL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9502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libre de riesgo (Rf)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01768" y="39502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4361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Premio de mercado (11% − 4%)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01768" y="4361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4773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del negocio (β)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01768" y="4773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184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+ (1,3 × 7%)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01768" y="51846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13,1%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104888" y="3456432"/>
            <a:ext cx="4462272" cy="2304288"/>
          </a:xfrm>
          <a:prstGeom prst="roundRect">
            <a:avLst>
              <a:gd name="adj" fmla="val 2381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424928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beta, en simple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24928" y="39502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mayor a 1: el negocio se mueve más que el mercado. Más riesgo, se exige más.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menor a 1: se mueve menos. Más estable, se exige menos.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rubro tiene beta alto: cosecha perecible, precio volátil, cliente concentrado. Por eso te exigen más y el banco te cobra más.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APLICADO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WACC, con números de tu negocio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ilustrativo para ampliar la sala de cultivo. Las cifras hay que reemplazarlas por las reales — el método es el mismo.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2029968"/>
            <a:ext cx="6035040" cy="2798064"/>
          </a:xfrm>
          <a:prstGeom prst="roundRect">
            <a:avLst>
              <a:gd name="adj" fmla="val 1961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87552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5237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total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721608" y="25237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$12.000.000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87552" y="3026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bancario (D)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721608" y="3026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$5.000.000  ·  18% anual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35295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 propio (E)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21608" y="35295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$7.000.000  ·  20% exigido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40325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Impuesto Pro Pyme (T)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721608" y="40325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13448" y="2029968"/>
            <a:ext cx="4553712" cy="2798064"/>
          </a:xfrm>
          <a:prstGeom prst="roundRect">
            <a:avLst>
              <a:gd name="adj" fmla="val 1961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33488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333488" y="25237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deuda   5 / 12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168128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41,7%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33488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patrimonio   7 / 12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168128" y="3026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58,3%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333488" y="3529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 neto   18% × (1 − 0,125)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168128" y="35295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15,75%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33488" y="40325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(0,417 × 15,75%) + (0,583 × 20%)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168128" y="40325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18,2%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58368" y="4956048"/>
            <a:ext cx="10874959" cy="1133856"/>
          </a:xfrm>
          <a:prstGeom prst="roundRect">
            <a:avLst>
              <a:gd name="adj" fmla="val 4839"/>
            </a:avLst>
          </a:prstGeom>
          <a:solidFill>
            <a:srgbClr val="0F2B4C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1115568" y="51023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18,2%</a:t>
            </a:r>
            <a:endParaRPr 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3264408" y="5138928"/>
            <a:ext cx="7909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lo que tiene que rendir la ampliación, como mínimo, solo para empatar con lo que cuesta financiarla. Si consigues que $5.000.000 vengan de un subsidio en vez de un crédito, ese piso baja de golpe: no pagas interés y financias menos.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2103120"/>
            <a:ext cx="658368" cy="6583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58368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618488" y="2130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618488" y="2450592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dónde sacar la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 en Chile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618488" y="38587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Fondos, subsidios, créditos y beneficios tributarios concretos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una microempresa agrícola de la Región de Valparaíso.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fuentes de financiamiento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8249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0976" y="1938528"/>
            <a:ext cx="402336" cy="402336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5097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2706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Subsidios y fondos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3072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devuelven. Exigen cofinanciar entre 5% y 30% y postular en fechas fijas.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61688" y="168249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54296" y="1938528"/>
            <a:ext cx="402336" cy="402336"/>
          </a:xfrm>
          <a:prstGeom prst="ellipse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5429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654296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654296" y="2706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Crédito bancario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54296" y="3072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Rápido y flexible. Interés deducible de impuestos, pero con cuota mensual fija.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65008" y="168249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357616" y="1938528"/>
            <a:ext cx="402336" cy="402336"/>
          </a:xfrm>
          <a:prstGeom prst="ellipse">
            <a:avLst/>
          </a:prstGeom>
          <a:solidFill>
            <a:srgbClr val="2E5484"/>
          </a:solidFill>
          <a:ln w="12700">
            <a:solidFill>
              <a:srgbClr val="2E5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35761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357616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INDAP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357616" y="2706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Crédito de fomento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357616" y="3072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Tasas preferentes para agricultura. Requiere estar acreditado como usuario.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387705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0976" y="4133088"/>
            <a:ext cx="402336" cy="402336"/>
          </a:xfrm>
          <a:prstGeom prst="ellipse">
            <a:avLst/>
          </a:prstGeom>
          <a:solidFill>
            <a:srgbClr val="44688F"/>
          </a:solidFill>
          <a:ln w="12700">
            <a:solidFill>
              <a:srgbClr val="446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5097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950976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FOGAPE · FOGAIN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950976" y="4901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Garantías estatales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50976" y="526694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son plata: son el aval que te falta para que el banco te preste.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61688" y="387705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54296" y="4133088"/>
            <a:ext cx="402336" cy="402336"/>
          </a:xfrm>
          <a:prstGeom prst="ellipse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65429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4654296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SII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654296" y="4901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tributarios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654296" y="526694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fondo, es plata que dejas de pagar. Régimen Pro Pyme y depreciación instantánea.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65008" y="3877056"/>
            <a:ext cx="3511296" cy="202996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357616" y="4133088"/>
            <a:ext cx="402336" cy="402336"/>
          </a:xfrm>
          <a:prstGeom prst="ellipse">
            <a:avLst/>
          </a:prstGeom>
          <a:solidFill>
            <a:srgbClr val="7391AE"/>
          </a:solidFill>
          <a:ln w="12700">
            <a:solidFill>
              <a:srgbClr val="7391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3576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8357616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 O FAMILIAR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357616" y="4901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Aporte de capital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8357616" y="526694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Última opción del orden. Cede utilidades y control de forma permanente.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FINANCIAMIENTO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dónde partir: tus tres prioridades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27632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87552" y="2066544"/>
            <a:ext cx="457200" cy="45720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875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609344" y="17739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Acreditarte como usuario INDAP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607808" y="1810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· gratis · todo el año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09344" y="2139696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fondo: es la llave que abre cuatro a la vez (PDI, Prodesal, créditos INDAP y el tramo preferente de riego). Se evalúa a ti como persona natural, no a la EIRL: activos bajo 3.500 UF, hasta 12 hectáreas de riego básico e ingresos principalmente agrícolas.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609344" y="270662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Agencia de Área INDAP de Quillota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" y="3108960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87552" y="3547872"/>
            <a:ext cx="457200" cy="45720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8755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609344" y="32552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Concurso de riego CNR — Ley 18.450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7607808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Abierto hasta el 27 de octubre de 2026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609344" y="3621024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Bonifica hasta el 90% de obras y tecnificación de riego. Aplica a una EIRL cuyo objeto sea la explotación agrícola. Exige un consultor inscrito en el registro CNR y eso toma semanas: si vas, hay que contactarlo esta semana.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609344" y="418795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Concurso 205-2026, pequeña agricultura centro-norte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8368" y="4590288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87552" y="5029200"/>
            <a:ext cx="457200" cy="457200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87552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609344" y="473659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Régimen Pro Pyme con tu contador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7607808" y="4773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plazo · efecto inmediato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609344" y="510235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postula, se elige. Tasa de primera categoría rebajada a 12,5% hasta 2027, PPM a la mitad y depreciación instantánea del invernadero y los equipos. En un año de inversión fuerte es el ahorro más grande y más seguro de esta lista.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609344" y="5669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Requiere cotizaciones previsionales al día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FONDOS Y CONCURSOS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resto del mapa: qué existe y cuándo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572768"/>
            <a:ext cx="10874959" cy="402336"/>
          </a:xfrm>
          <a:prstGeom prst="rect">
            <a:avLst/>
          </a:prstGeom>
          <a:solidFill>
            <a:srgbClr val="0F2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14400" y="16916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675888" y="16916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FINANCIA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691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16916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" y="1975104"/>
            <a:ext cx="10874959" cy="4572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4400" y="2093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PDI — INDAP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75888" y="20939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productiva: infraestructura y equipamiento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$7,5 M · cubre 70–90%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2093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Llamado regional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432304"/>
            <a:ext cx="108749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14400" y="2551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Prodesal — INDAP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675888" y="25511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Asesoría técnica permanente + capital de trabajo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065008" y="25511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costo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0" y="2551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año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" y="2889504"/>
            <a:ext cx="10874959" cy="4572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14400" y="3008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— Sercotec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675888" y="30083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Activos fijos, capital de trabajo y gestión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065008" y="3008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M · aporte 5%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0" y="3008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Ronda 2027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" y="3346704"/>
            <a:ext cx="108749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14400" y="3465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Sostenible — Sercotec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675888" y="34655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Igual que Crece, con foco en producción sostenible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065008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$9 M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241280" y="34655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 región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58368" y="3803904"/>
            <a:ext cx="10874959" cy="4572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914400" y="39227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FOGAPE / FOGAIN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675888" y="39227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Garantía estatal para acceder a crédito bancario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065008" y="3922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Aval, no subsidio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241280" y="39227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8368" y="4261104"/>
            <a:ext cx="1087495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914400" y="4379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 Región — Corfo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3675888" y="43799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y validación comercial de un proceso nuevo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065008" y="4379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$60 M · cubre 80%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10241280" y="4379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2027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8368" y="4718304"/>
            <a:ext cx="10874959" cy="4572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914400" y="4837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— FIA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3675888" y="48371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I+D+i agraria en etapas de mayor madurez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8065008" y="48371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$50 M · aporte 20%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0241280" y="4837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Anual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58368" y="5376672"/>
            <a:ext cx="10874959" cy="749808"/>
          </a:xfrm>
          <a:prstGeom prst="roundRect">
            <a:avLst>
              <a:gd name="adj" fmla="val 7317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024128" y="5541264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Montos y fechas referenciales al 30 de agosto de 2026. Antes de invertir tiempo en cualquiera de estos, confirmar bases y plazos vigentes con el organismo — las convocatorias regionales cambian sin aviso.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DESCARTES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te sirve, y por qué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Descartar bien ahorra semanas de trabajo. Estos son los fondos más conocidos y ninguno te calza hoy.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048256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9264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Semilla Emprende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636008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SERCOTEC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69264" y="25237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 NO tener inicio de actividades en primera categoría, y descalifica a quien ya tiene una EIRL. Fallas en los dos criterios.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90488" y="2048256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501384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Abeja Emprende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168128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SERCOTEC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01384" y="25237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Exclusivo para mujeres y también exige no tener inicio de actividades.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3346704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9264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Semilla Inicia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4636008" y="3547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CORFO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382219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 empresa con cero ventas. Si ya facturas, quedas fuera.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90488" y="3346704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501384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Digitaliza tu Almacén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0168128" y="3547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SERCOTEC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501384" y="382219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Restringido a comercio de barrio: minimarket, panadería, verdulería. El cultivo agrícola no entra.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" y="4645152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969264" y="4809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Exportadora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636008" y="4846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PROCHILE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69264" y="512064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Requiere ser beneficiario INDAP acreditado. Vuelve a estar sobre la mesa apenas completes la prioridad 1.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90488" y="4645152"/>
            <a:ext cx="5376672" cy="1152144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6501384" y="4809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SIRSD-S Valparaíso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10168128" y="4846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501384" y="512064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convocatoria 2026 cubrió solo Los Andes, San Felipe y Petorca. Hijuelas está en Quillota.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decisiones, en lenguaje simple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45920"/>
            <a:ext cx="3511296" cy="4224528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0976" y="1883664"/>
            <a:ext cx="420624" cy="420624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5097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2414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qué pones la plata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3145536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 lo que aumenta capacidad de producción o baja pérdida de cosecha.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comprar, estima cuánto ingreso extra genera al año y compáralo con el 18% del ejercicio.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la inversión en etapas: no comprometas toda la caja en un solo mes.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61688" y="1645920"/>
            <a:ext cx="3511296" cy="4224528"/>
          </a:xfrm>
          <a:prstGeom prst="roundRect">
            <a:avLst>
              <a:gd name="adj" fmla="val 1563"/>
            </a:avLst>
          </a:prstGeom>
          <a:solidFill>
            <a:srgbClr val="E8EEF5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54296" y="1883664"/>
            <a:ext cx="420624" cy="420624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5429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654296" y="2414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Financiamiento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54296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la sacas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654296" y="3145536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Respeta el orden: propio, subsidio, crédito, socio. No te saltes escalones por apuro.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financies gasto corriente con crédito de largo plazo, ni activos con la línea de la cuenta corriente.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banco te pide garantías que no tienes, pregunta explícitamente por FOGAPE.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65008" y="1645920"/>
            <a:ext cx="3511296" cy="4224528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357616" y="1883664"/>
            <a:ext cx="420624" cy="420624"/>
          </a:xfrm>
          <a:prstGeom prst="ellipse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35761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357616" y="2414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357616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sacas para ti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357616" y="3145536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Fíjate un sueldo mensual del titular y trátalo como un costo fijo del negocio.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año, reinvierte las utilidades: es tu fuente más barata y mejora tu ficha para postular.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 la cuenta bancaria personal de la de la empresa. Sin eso, ningún fondo ni banco te toma en serio.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plan para los próximos 90 días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645920"/>
            <a:ext cx="3511296" cy="4114800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0976" y="1883664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F2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50976" y="18836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1–30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2487168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Acreditarte como usuario INDAP en la Agencia de Área de Quillota.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la cuenta bancaria de la empresa de la personal.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con tu contador el régimen Pro Pyme y la depreciación instantánea.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Llamar a Sercotec Valparaíso y confirmar si Crece sigue abierto.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1688" y="1645920"/>
            <a:ext cx="3511296" cy="4114800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54296" y="1883664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1A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54296" y="18836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31–60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2487168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Contactar un consultor inscrito en el registro CNR para el concurso de riego.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Armar un flujo de caja mensual proyectado a 12 meses.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los cursos gratuitos del portal de capacitación de Sercotec.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las ventas declaradas en el F29: es la base con que te evalúan.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65008" y="1645920"/>
            <a:ext cx="3511296" cy="4114800"/>
          </a:xfrm>
          <a:prstGeom prst="roundRect">
            <a:avLst>
              <a:gd name="adj" fmla="val 1563"/>
            </a:avLst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  <a:effectLst>
            <a:outerShdw blurRad="152400" dist="25400" dir="5400000" algn="bl" rotWithShape="0">
              <a:srgbClr val="0F2B4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357616" y="1883664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357616" y="18836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61–90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2487168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Postular al concurso CNR antes del 27 de octubre.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la carpeta de inversión para PDI y consultar por Prodesal en el municipio.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Conversar con BancoEstado Microempresas sobre crédito con garantía FOGAPE.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juntos los resultados y ajustar el plan.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585216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2E54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final de la sesión te dejo esta guía por escrito, con los enlaces oficiales de cada organismo.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1A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58368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CERRAR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2212848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Financiarse bien no es</a:t>
            </a:r>
            <a:endParaRPr lang="en-US" sz="32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conseguir plata: es conseguir</a:t>
            </a:r>
            <a:endParaRPr lang="en-US" sz="32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plata correcta.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413308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 lo tuyo, después lo que no se devuelve, después lo prestado y solo al final lo compartido. En tu caso, el próximo paso concreto cabe en una frase: acreditarte como usuario INDAP.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5138928"/>
            <a:ext cx="10058400" cy="10973"/>
          </a:xfrm>
          <a:prstGeom prst="rect">
            <a:avLst/>
          </a:prstGeom>
          <a:solidFill>
            <a:srgbClr val="2E54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8368" y="5303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consultadas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5412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Listado completo en norma APA en el anexo de referencias, láminas 26 a 29: material del curso y bibliografía, INDAP, CNR, FIA, Sercotec, Corfo, SII, FOGAPE, BancoEstado, ProChile, SAG y marco normativo citado.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1 DE 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Anexo · Referencias del curso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316736"/>
            <a:ext cx="10874959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DE LA ASIGNATURA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IACC.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financieros y estructura de capital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Finanzas II, Semana 2. Instituto Profesional IACC.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IACC.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 capital: CAPM y WACC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[Infografía]. Finanzas II, Semana 2. Instituto Profesional IACC.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IACC.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Tarea: Finanzas II, Unidad 1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Instituto Profesional IACC.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OBLIGATORIA Y COMPLEMENTARIA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García Padilla, V. M. (2015).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las finanzas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(2.ª ed.). Grupo Editorial Patria. https://elibro.net/es/lc/iacc/titulos/39412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Harvard Business Review. (2021).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básicas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Editorial Reverté. https://elibro.net/es/lc/iacc/titulos/209692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Martín, J. L. (2014).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para todos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(1.ª ed.). LID Editorial España. https://elibro.net/es/lc/iacc/titulos/271032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Rodríguez Aranday, F. (2020).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internacionales y productos derivados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(1.ª ed.). Instituto Mexicano de Contadores Públicos. https://elibro.net/es/lc/iacc/titulos/174898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DE MERCADO INDICADAS EN LA TAREA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Bolsa de Santiago.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bursátil chileno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https://www.bolsadesantiago.com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para el Mercado Financiero.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CMF Chile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https://www.cmfchile.cl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Damodaran, A.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Damodaran Online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Stern School of Business, New York University. https://pages.stern.nyu.edu/~adamodar/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PRIMARIA DEL SOCIO ESTRATÉGICO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Impuestos Internos. (2026, 7 de agosto).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Cédula de Rol Único Tributario N.º 202608681224: Bruno Báez Cultivo de Hongos E.I.R.L.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[Documento facilitado por el socio estratégico].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0533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institucionales consultados el 30 de agosto de 2026. Anexo de referencia, no pensado para proyectar.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2 DE 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Anexo · Fomento agrícola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316736"/>
            <a:ext cx="10874959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 (INDAP)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para ser usuario(a) de INDAP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https://www.indap.gob.cl/requisitos-para-ser-usuarioa-de-indap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(2021).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de acreditación de usuarios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https://www.indap.gob.cl/sites/default/files/2021-12/proc-acreditacion-usuarios.pdf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Desarrollo de Inversiones (PDI)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https://www.indap.gob.cl/plataforma-de-servicios/programa-desarrollo-de-inversiones-pdi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Desarrollo Local (Prodesal)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https://www.indap.gob.cl/plataforma-de-servicios/programa-de-desarrollo-local-prodesal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 de largo plazo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https://www.indap.gob.cl/plataforma-de-servicios/credito-largo-plazo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de Desarrollo Agropecuario.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Postulación a inversiones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https://inversiones.indap.cl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NACIONAL DE RIEGO (LEY 18.450)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Nacional de Riego.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concursos 2026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https://www.cnr.gob.cl/agricultores/calendario-de-concurso/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Nacional de Riego.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postular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https://www.cnr.gob.cl/agricultores/como-postular/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Nacional de Riego.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concurso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https://www.cnr.gob.cl/agricultores/concursos-de-riego-y-drenaje/bases-de-concurso/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 PARA LA INNOVACIÓN AGRARIA (FIA)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 para la Innovación Agraria.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Convocatorias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https://www.fia.cl/pilares-de-accion/impulso-para-innovar/convocatorias/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 para la Innovación Agraria.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Convocatoria nacional de Proyectos de Innovación de Interés Privado 2026, Línea 1 (TRL3 a TRL5)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https://www.fia.cl/convocatorias/convocatoria-nacional-de-proyectos-de-innovacion-de-interes-privado-2026-linea-1trl3-a-trl5/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 para la Innovación Agraria.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Convocatoria nacional de Proyectos de Innovación de Interés Privado 2026, Línea 2 (TRL5 a TRL7)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https://www.fia.cl/convocatorias/convocatoria-nacional-de-proyectos-de-innovacion-de-interes-privado-2026-linea-2-trl5-a-trl7/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0533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institucionales consultados el 30 de agosto de 2026. Anexo de referencia, no pensado para proyectar.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3 DE 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Anexo · Fomento productivo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316736"/>
            <a:ext cx="10874959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 (SERCOTEC)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Crece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https://www.sercotec.cl/programas/crece/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(2025).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convocatoria Crece: Fondo de Desarrollo de Negocios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https://www.sercotec.cl/wp-content/uploads/2025/04/7.-Bases-de-Convocatoria_Crece-Fondo-de-Desarrollo-de-Negocios-2025_Multisectorial_Urbano.pdf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Multisectorial, Región de Valparaíso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https://www.sercotec.cl/convocatoria/crece-multisectorial-region-de-valparaiso/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Sostenible, Región de Valparaíso 2026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https://www.sercotec.cl/convocatoria/crece-sostenible-region-de-valparaiso-2026/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Capital Semilla Emprende 2026, Región de Valparaíso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https://www.sercotec.cl/wp-content/uploads/2026/04/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Capital Abeja Emprende 2026, Región de Valparaíso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https://www.sercotec.cl/wp-content/uploads/2026/05/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Semilla Modo Empleo, Región de Valparaíso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https://www.sercotec.cl/convocatoria/capital-semilla-modo-empleo-region-de-valparaiso/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Cooperación Técnica.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Convocatorias abiertas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https://sctwebwidgets.sercotec.cl/convocatorias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 (CORFO)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 Región CDPR Valparaíso 2026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https://www.corfo.gob.cl/sites/cpp/convocatoria/innova-region-cdpr-valparaiso-2026/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Semilla Inicia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https://www.corfo.gob.cl/sites/cpp/convocatoria/semilla_inicia/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Semilla Expande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https://www.corfo.gob.cl/sites/cpp/convocatoria/semilla_expande_21/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Emprendimiento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https://www.corfo.gob.cl/sites/cpp/area/emprendimiento/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Corporación de Fomento de la Producción.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Garantías Corfo: FOGAIN y COBEX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https://repositoriodigital.corfo.cl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0533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institucionales consultados el 30 de agosto de 2026. Anexo de referencia, no pensado para proyectar.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5836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4 DE 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00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Anexo · Tributario, garantías y otros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 </a:t>
            </a: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·  Sesión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45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316736"/>
            <a:ext cx="10874959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IMPUESTOS INTERNOS (SII)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Impuestos Internos.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del régimen Pro Pyme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https://www.sii.cl/preguntas_frecuentes/declaracion_renta/001_140_7530.htm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de Impuestos Internos.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regímenes tributarios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https://www.sii.cl/destacados/modernizacion/tipos_regimenes_mt.html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GARANTÍAS Y BANCA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Fondo de Garantía para Pequeños Empresarios. (2023).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https://www.fogape.cl/2023/06/30/preguntas-frecuentes/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BancoEstado.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BancoEstado Microempresas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https://www.bancoestado.cl/content/bancoestado-public/cl/es/home/home-microempresa.html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ORGANISMOS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ProChile.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Exportadora para Agricultura de Menor Escala 2026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https://www.prochile.gob.cl/convocatorias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Agrícola y Ganadero. (2026).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Concurso SIRSD-S 2026, Región de Valparaíso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[PDF]. https://websag.azurewebsites.net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Municipalidad de Hijuelas.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Subsidio agrícola municipal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https://hijuelas.cl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de Chile. (s. f.).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único de fondos concursables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https://fondos.gob.cl</a:t>
            </a:r>
            <a:endParaRPr lang="en-US" sz="900" dirty="0"/>
          </a:p>
          <a:p>
            <a:pPr marL="0" indent="0">
              <a:lnSpc>
                <a:spcPts val="135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900" b="1" kern="0" spc="110" dirty="0">
                <a:solidFill>
                  <a:srgbClr val="2E5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NORMATIVO CITADO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18.450 de 1985.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Aprueba normas para el fomento de la inversión privada en obras de riego y drenaje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Ministerio de Agricultura, Chile.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19.857 de 2003.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 el establecimiento de empresas individuales de responsabilidad limitada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Ministerio de Economía, Fomento y Reconstrucción, Chile.</a:t>
            </a:r>
            <a:endParaRPr lang="en-US" sz="9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21.755 de 2025. </a:t>
            </a:r>
            <a:r>
              <a:rPr lang="en-US" sz="94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Rebaja transitoria del impuesto de primera categoría para pymes</a:t>
            </a:r>
            <a:r>
              <a:rPr lang="en-US" sz="94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Ministerio de Hacienda, Chile.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0533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institucionales consultados el 30 de agosto de 2026. Anexo de referencia, no pensado para proyectar.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6422</Words>
  <Application>Microsoft Macintosh PowerPoint</Application>
  <PresentationFormat>Widescreen</PresentationFormat>
  <Paragraphs>623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Cabargas Solutions and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 para tu empresa — Sesión 1</dc:title>
  <dc:subject>PptxGenJS Presentation</dc:subject>
  <dc:creator>Cabargas Solutions and Consulting</dc:creator>
  <cp:lastModifiedBy>Alfonso Felipe Cabargas Madrid</cp:lastModifiedBy>
  <cp:revision>2</cp:revision>
  <dcterms:created xsi:type="dcterms:W3CDTF">2026-08-30T15:27:22Z</dcterms:created>
  <dcterms:modified xsi:type="dcterms:W3CDTF">2026-08-30T15:34:24Z</dcterms:modified>
</cp:coreProperties>
</file>